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A36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1F2A36"/>
                </a:solidFill>
                <a:latin typeface="Calibri"/>
              </a:rPr>
              <a:t>Latency (ms)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auth median</c:v>
                </c:pt>
              </c:strCache>
            </c:strRef>
          </c:tx>
          <c:spPr>
            <a:solidFill>
              <a:srgbClr val="1F9E8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3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30 veh</c:v>
                  </c:pt>
                  <c:pt idx="1">
                    <c:v>60 veh</c:v>
                  </c:pt>
                  <c:pt idx="2">
                    <c:v>90 veh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1.8798333333333332</c:v>
                </c:pt>
                <c:pt idx="1">
                  <c:v>1.9683333333333335</c:v>
                </c:pt>
                <c:pt idx="2">
                  <c:v>2.1811666666666665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auth p95</c:v>
                </c:pt>
              </c:strCache>
            </c:strRef>
          </c:tx>
          <c:spPr>
            <a:solidFill>
              <a:srgbClr val="F2A90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3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30 veh</c:v>
                  </c:pt>
                  <c:pt idx="1">
                    <c:v>60 veh</c:v>
                  </c:pt>
                  <c:pt idx="2">
                    <c:v>90 veh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3.2775666666666665</c:v>
                </c:pt>
                <c:pt idx="1">
                  <c:v>4.377083333333332</c:v>
                </c:pt>
                <c:pt idx="2">
                  <c:v>7.251766666666662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handover median</c:v>
                </c:pt>
              </c:strCache>
            </c:strRef>
          </c:tx>
          <c:spPr>
            <a:solidFill>
              <a:srgbClr val="1F2A3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3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30 veh</c:v>
                  </c:pt>
                  <c:pt idx="1">
                    <c:v>60 veh</c:v>
                  </c:pt>
                  <c:pt idx="2">
                    <c:v>90 veh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1.4221666666666668</c:v>
                </c:pt>
                <c:pt idx="1">
                  <c:v>1.5853333333333335</c:v>
                </c:pt>
                <c:pt idx="2">
                  <c:v>1.936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F2A3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C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F2A36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A36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1F2A36"/>
                </a:solidFill>
                <a:latin typeface="Calibri"/>
              </a:rPr>
              <a:t>Mean BSM size (bytes)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full ticket in every BSM</c:v>
                </c:pt>
              </c:strCache>
            </c:strRef>
          </c:tx>
          <c:spPr>
            <a:solidFill>
              <a:srgbClr val="5B6B7A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3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30 veh</c:v>
                  </c:pt>
                  <c:pt idx="1">
                    <c:v>60 veh</c:v>
                  </c:pt>
                  <c:pt idx="2">
                    <c:v>90 veh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332.9213986086284</c:v>
                </c:pt>
                <c:pt idx="1">
                  <c:v>332.9217982749571</c:v>
                </c:pt>
                <c:pt idx="2">
                  <c:v>332.92161472036304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full ticket 1/s, 8-byte digest otherwise</c:v>
                </c:pt>
              </c:strCache>
            </c:strRef>
          </c:tx>
          <c:spPr>
            <a:solidFill>
              <a:srgbClr val="1F9E8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3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30 veh</c:v>
                  </c:pt>
                  <c:pt idx="1">
                    <c:v>60 veh</c:v>
                  </c:pt>
                  <c:pt idx="2">
                    <c:v>90 veh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189.43753897255752</c:v>
                </c:pt>
                <c:pt idx="1">
                  <c:v>189.5213528366256</c:v>
                </c:pt>
                <c:pt idx="2">
                  <c:v>189.6490814141151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100" u="none">
                  <a:solidFill>
                    <a:srgbClr val="1F2A3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C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F2A36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A36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1F2A36"/>
                </a:solidFill>
                <a:latin typeface="Calibri"/>
              </a:rPr>
              <a:t>Channel busy at RSUs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full ticket</c:v>
                </c:pt>
              </c:strCache>
            </c:strRef>
          </c:tx>
          <c:spPr>
            <a:solidFill>
              <a:srgbClr val="5B6B7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3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30 veh</c:v>
                  </c:pt>
                  <c:pt idx="1">
                    <c:v>60 veh</c:v>
                  </c:pt>
                  <c:pt idx="2">
                    <c:v>90 veh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3.05711595662528</c:v>
                </c:pt>
                <c:pt idx="1">
                  <c:v>5.837653775118</c:v>
                </c:pt>
                <c:pt idx="2">
                  <c:v>8.621574049839117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digest</c:v>
                </c:pt>
              </c:strCache>
            </c:strRef>
          </c:tx>
          <c:spPr>
            <a:solidFill>
              <a:srgbClr val="1F9E8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3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30 veh</c:v>
                  </c:pt>
                  <c:pt idx="1">
                    <c:v>60 veh</c:v>
                  </c:pt>
                  <c:pt idx="2">
                    <c:v>90 veh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2.198208902017163</c:v>
                </c:pt>
                <c:pt idx="1">
                  <c:v>4.103726646718761</c:v>
                </c:pt>
                <c:pt idx="2">
                  <c:v>6.0171812092645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F2A3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C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F2A36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A36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1F2A36"/>
                </a:solidFill>
                <a:latin typeface="Calibri"/>
              </a:rPr>
              <a:t>First lying BSM → report (s, median)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first lying BSM → report (median, s)</c:v>
                </c:pt>
              </c:strCache>
            </c:strRef>
          </c:tx>
          <c:spPr>
            <a:solidFill>
              <a:srgbClr val="F2A90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3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const pos</c:v>
                  </c:pt>
                  <c:pt idx="1">
                    <c:v>const speed</c:v>
                  </c:pt>
                  <c:pt idx="2">
                    <c:v>flood</c:v>
                  </c:pt>
                  <c:pt idx="3">
                    <c:v>random pos</c:v>
                  </c:pt>
                  <c:pt idx="4">
                    <c:v>random speed</c:v>
                  </c:pt>
                  <c:pt idx="5">
                    <c:v>sudden stop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0.9718443333333339</c:v>
                </c:pt>
                <c:pt idx="1">
                  <c:v>1.0655183333333327</c:v>
                </c:pt>
                <c:pt idx="2">
                  <c:v>0.1636196666666656</c:v>
                </c:pt>
                <c:pt idx="3">
                  <c:v>0.26333750000000045</c:v>
                </c:pt>
                <c:pt idx="4">
                  <c:v>1.0994401666666669</c:v>
                </c:pt>
                <c:pt idx="5">
                  <c:v>1.0655183333333327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F2A3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5DC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A36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1F2A36"/>
                </a:solidFill>
                <a:latin typeface="Calibri"/>
              </a:rPr>
              <a:t>Attackers reported / revoked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1F9E8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3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const pos</c:v>
                  </c:pt>
                  <c:pt idx="1">
                    <c:v>const speed</c:v>
                  </c:pt>
                  <c:pt idx="2">
                    <c:v>flood</c:v>
                  </c:pt>
                  <c:pt idx="3">
                    <c:v>random pos</c:v>
                  </c:pt>
                  <c:pt idx="4">
                    <c:v>random speed</c:v>
                  </c:pt>
                  <c:pt idx="5">
                    <c:v>sudden stop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94.44444444444446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revoked</c:v>
                </c:pt>
              </c:strCache>
            </c:strRef>
          </c:tx>
          <c:spPr>
            <a:solidFill>
              <a:srgbClr val="1F2A36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3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const pos</c:v>
                  </c:pt>
                  <c:pt idx="1">
                    <c:v>const speed</c:v>
                  </c:pt>
                  <c:pt idx="2">
                    <c:v>flood</c:v>
                  </c:pt>
                  <c:pt idx="3">
                    <c:v>random pos</c:v>
                  </c:pt>
                  <c:pt idx="4">
                    <c:v>random speed</c:v>
                  </c:pt>
                  <c:pt idx="5">
                    <c:v>sudden stop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66.66666666666666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100" u="none">
                  <a:solidFill>
                    <a:srgbClr val="1F2A3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b"/>
        <c:majorGridlines>
          <c:spPr>
            <a:ln w="6350" cap="flat">
              <a:solidFill>
                <a:srgbClr val="D5DC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F2A36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A36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1F2A36"/>
                </a:solidFill>
                <a:latin typeface="Calibri"/>
              </a:rPr>
              <a:t>Attackers revoked within 120 s (%), const_pos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attackers revoked (%)</c:v>
                </c:pt>
              </c:strCache>
            </c:strRef>
          </c:tx>
          <c:spPr>
            <a:solidFill>
              <a:srgbClr val="1F9E8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3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K = 1</c:v>
                  </c:pt>
                  <c:pt idx="1">
                    <c:v>K = 2</c:v>
                  </c:pt>
                  <c:pt idx="2">
                    <c:v>K =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94.44444444444446</c:v>
                </c:pt>
                <c:pt idx="1">
                  <c:v>66.66666666666666</c:v>
                </c:pt>
                <c:pt idx="2">
                  <c:v>50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100" u="none">
                  <a:solidFill>
                    <a:srgbClr val="1F2A3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l"/>
        <c:majorGridlines>
          <c:spPr>
            <a:ln w="6350" cap="flat">
              <a:solidFill>
                <a:srgbClr val="D5DC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A36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1F2A36"/>
                </a:solidFill>
                <a:latin typeface="Calibri"/>
              </a:rPr>
              <a:t>Report → revocation (s, mean)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 → revocation (s)</c:v>
                </c:pt>
              </c:strCache>
            </c:strRef>
          </c:tx>
          <c:spPr>
            <a:solidFill>
              <a:srgbClr val="F2A90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3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K = 1</c:v>
                  </c:pt>
                  <c:pt idx="1">
                    <c:v>K = 2</c:v>
                  </c:pt>
                  <c:pt idx="2">
                    <c:v>K =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0.464503011111112</c:v>
                </c:pt>
                <c:pt idx="1">
                  <c:v>10.571601133333337</c:v>
                </c:pt>
                <c:pt idx="2">
                  <c:v>25.00778873333333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F2A3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C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A36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1F2A36"/>
                </a:solidFill>
                <a:latin typeface="Calibri"/>
              </a:rPr>
              <a:t>Latency at 60 vehicles (ms)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auth median (ms)</c:v>
                </c:pt>
              </c:strCache>
            </c:strRef>
          </c:tx>
          <c:spPr>
            <a:solidFill>
              <a:srgbClr val="1F9E8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3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Ours (ZKP + ledger)</c:v>
                  </c:pt>
                  <c:pt idx="1">
                    <c:v>ECDSA certificates</c:v>
                  </c:pt>
                  <c:pt idx="2">
                    <c:v>Central authority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1.9683333333333335</c:v>
                </c:pt>
                <c:pt idx="1">
                  <c:v>1.2838333333333332</c:v>
                </c:pt>
                <c:pt idx="2">
                  <c:v>22.251333333333335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handover median (ms)</c:v>
                </c:pt>
              </c:strCache>
            </c:strRef>
          </c:tx>
          <c:spPr>
            <a:solidFill>
              <a:srgbClr val="1F2A3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3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Ours (ZKP + ledger)</c:v>
                  </c:pt>
                  <c:pt idx="1">
                    <c:v>ECDSA certificates</c:v>
                  </c:pt>
                  <c:pt idx="2">
                    <c:v>Central authority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1.5853333333333335</c:v>
                </c:pt>
                <c:pt idx="1">
                  <c:v>1.2271666666666665</c:v>
                </c:pt>
                <c:pt idx="2">
                  <c:v>22.203333333333333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F2A3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C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F2A36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sentence: vehicles authenticate without revealing who they are, liars get revoked by two independent RSUs, and only a threshold of RSU organisations can unmask a revoked vehicle.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schemes give two or three of these. The point of the project is to give all five and show the cost on a realistic channel.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Authentication never waits for a block: ledger reads are local, the ticket is immediate, and neighbours get PREAUTH over the 2 ms backbone.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of power: RSUs can revoke (two must agree) but don't know who it is; the TA can decrypt only with t RSU shares after an auditable on-ledger approval.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rgbClr val="1F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F2A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Anonymous, accountable authentication for VANETs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2004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3DC"/>
                </a:solidFill>
              </a:rPr>
              <a:t>Zero-knowledge proofs at the roadside, revocation and identity escrow on Hyperledger Fabric, measured on an 802.11p channel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4480560"/>
            <a:ext cx="274320" cy="27432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4434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A900"/>
                </a:solidFill>
              </a:rPr>
              <a:t>Mechanism and results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properties the system must give at once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45920"/>
            <a:ext cx="384048" cy="384048"/>
          </a:xfrm>
          <a:prstGeom prst="ellipse">
            <a:avLst/>
          </a:prstGeom>
          <a:solidFill>
            <a:srgbClr val="1F9E8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80160" y="1581912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36"/>
                </a:solidFill>
              </a:rPr>
              <a:t>Authentication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9456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Only registered vehicles get a ticket; every safety message is signed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97680" y="141732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26280" y="1645920"/>
            <a:ext cx="384048" cy="384048"/>
          </a:xfrm>
          <a:prstGeom prst="ellipse">
            <a:avLst/>
          </a:prstGeom>
          <a:solidFill>
            <a:srgbClr val="1F9E8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029200" y="1581912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36"/>
                </a:solidFill>
              </a:rPr>
              <a:t>Privacy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219456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RSUs and the ledger see unlinkable pseudonyms, never identities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46720" y="141732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75320" y="1645920"/>
            <a:ext cx="384048" cy="384048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778240" y="1581912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36"/>
                </a:solidFill>
              </a:rPr>
              <a:t>Misbehaviour detection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219456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Plausibility checks on every BSM at the RSU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79476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7240" y="4023360"/>
            <a:ext cx="384048" cy="384048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280160" y="3959352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36"/>
                </a:solidFill>
              </a:rPr>
              <a:t>Revocation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57200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Two different RSUs must report before a pseudonym is revoked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297680" y="379476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26280" y="4023360"/>
            <a:ext cx="384048" cy="384048"/>
          </a:xfrm>
          <a:prstGeom prst="ellipse">
            <a:avLst/>
          </a:prstGeom>
          <a:solidFill>
            <a:srgbClr val="C8463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029200" y="3959352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36"/>
                </a:solidFill>
              </a:rPr>
              <a:t>Accountability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4526280" y="457200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t = 2f+1 RSU organisations can unmask a revoked vehicle; the TA alone cannot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does what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108960" cy="1828800"/>
          </a:xfrm>
          <a:prstGeom prst="roundRect">
            <a:avLst>
              <a:gd name="adj" fmla="val 5000"/>
            </a:avLst>
          </a:prstGeom>
          <a:solidFill>
            <a:srgbClr val="1F9E8F"/>
          </a:solidFill>
          <a:ln w="12700">
            <a:solidFill>
              <a:srgbClr val="1F9E8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554480"/>
            <a:ext cx="2834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Vehicle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5 pseudonym key pairs + Merkle paths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ZK proof to authenticate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Signs every BSM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26280" y="1463040"/>
            <a:ext cx="3108960" cy="1828800"/>
          </a:xfrm>
          <a:prstGeom prst="roundRect">
            <a:avLst>
              <a:gd name="adj" fmla="val 5000"/>
            </a:avLst>
          </a:prstGeom>
          <a:solidFill>
            <a:srgbClr val="1F2A36"/>
          </a:solidFill>
          <a:ln w="12700">
            <a:solidFill>
              <a:srgbClr val="1F2A3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663440" y="1554480"/>
            <a:ext cx="2834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RSU (9)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Verifies proofs, issues 30 s tickets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Checks every BSM, runs detector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Holds one escrow key share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503920" y="1463040"/>
            <a:ext cx="3108960" cy="1828800"/>
          </a:xfrm>
          <a:prstGeom prst="roundRect">
            <a:avLst>
              <a:gd name="adj" fmla="val 5000"/>
            </a:avLst>
          </a:prstGeom>
          <a:solidFill>
            <a:srgbClr val="5B6B7A"/>
          </a:solidFill>
          <a:ln w="12700">
            <a:solidFill>
              <a:srgbClr val="5B6B7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41080" y="1554480"/>
            <a:ext cx="2834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Fabric ledger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Merkle root, policy, auths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Reports, revocations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Trace votes — no identities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26280" y="4160520"/>
            <a:ext cx="3108960" cy="1737360"/>
          </a:xfrm>
          <a:prstGeom prst="roundRect">
            <a:avLst>
              <a:gd name="adj" fmla="val 5263"/>
            </a:avLst>
          </a:prstGeom>
          <a:solidFill>
            <a:srgbClr val="C8463D"/>
          </a:solidFill>
          <a:ln w="12700">
            <a:solidFill>
              <a:srgbClr val="C846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425196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Trusted Authority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Registers pseudonyms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Encrypts identity, splits key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Cannot unmask alone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657600" y="2377440"/>
            <a:ext cx="868680" cy="914"/>
          </a:xfrm>
          <a:prstGeom prst="line">
            <a:avLst/>
          </a:prstGeom>
          <a:noFill/>
          <a:ln w="25400">
            <a:solidFill>
              <a:srgbClr val="5B6B7A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635240" y="2377440"/>
            <a:ext cx="868680" cy="914"/>
          </a:xfrm>
          <a:prstGeom prst="line">
            <a:avLst/>
          </a:prstGeom>
          <a:noFill/>
          <a:ln w="25400">
            <a:solidFill>
              <a:srgbClr val="5B6B7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 flipV="1">
            <a:off x="6080760" y="3291840"/>
            <a:ext cx="914" cy="868680"/>
          </a:xfrm>
          <a:prstGeom prst="line">
            <a:avLst/>
          </a:prstGeom>
          <a:noFill/>
          <a:ln w="25400">
            <a:solidFill>
              <a:srgbClr val="5B6B7A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3566160" y="19659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A"/>
                </a:solidFill>
              </a:rPr>
              <a:t>802.11p radio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503920" y="34290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A"/>
                </a:solidFill>
              </a:rPr>
              <a:t>RSUs read the ledger locally; a write is visible to other RSUs after the commit (~0.5 s)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172200" y="35204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A"/>
                </a:solidFill>
              </a:rPr>
              <a:t>key shares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2636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A"/>
                </a:solidFill>
              </a:rPr>
              <a:t>Simulation: SUMO 1 km² grid, 9 RSUs (450 m grid, 300 m service range), IEEE 802.11p 6 Mb/s, ns-3 or the calibrated lite backend.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vehicle's journey through the protocol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005840" y="1554480"/>
            <a:ext cx="548640" cy="548640"/>
          </a:xfrm>
          <a:prstGeom prst="ellipse">
            <a:avLst/>
          </a:prstGeom>
          <a:solidFill>
            <a:srgbClr val="1F9E8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058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600200" y="1828800"/>
            <a:ext cx="1097280" cy="0"/>
          </a:xfrm>
          <a:prstGeom prst="line">
            <a:avLst/>
          </a:prstGeom>
          <a:noFill/>
          <a:ln w="25400">
            <a:solidFill>
              <a:srgbClr val="D5DCE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286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A36"/>
                </a:solidFill>
              </a:rPr>
              <a:t>Register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88920"/>
            <a:ext cx="1463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6"/>
                </a:solidFill>
              </a:rPr>
              <a:t>Merkle root of all pseudonyms on the ledger; identity escrowed (AES-GCM + Shamir)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606040" y="1554480"/>
            <a:ext cx="548640" cy="548640"/>
          </a:xfrm>
          <a:prstGeom prst="ellipse">
            <a:avLst/>
          </a:prstGeom>
          <a:solidFill>
            <a:srgbClr val="1F9E8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6060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200400" y="1828800"/>
            <a:ext cx="1097280" cy="0"/>
          </a:xfrm>
          <a:prstGeom prst="line">
            <a:avLst/>
          </a:prstGeom>
          <a:noFill/>
          <a:ln w="25400">
            <a:solidFill>
              <a:srgbClr val="D5DC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148840" y="2286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A36"/>
                </a:solidFill>
              </a:rPr>
              <a:t>Beacon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148840" y="2788920"/>
            <a:ext cx="1463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6"/>
                </a:solidFill>
              </a:rPr>
              <a:t>RSU signs a fresh nonce every 100 ms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06240" y="155448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2062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800600" y="1828800"/>
            <a:ext cx="1097280" cy="0"/>
          </a:xfrm>
          <a:prstGeom prst="line">
            <a:avLst/>
          </a:prstGeom>
          <a:noFill/>
          <a:ln w="25400">
            <a:solidFill>
              <a:srgbClr val="D5DC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749040" y="2286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A36"/>
                </a:solidFill>
              </a:rPr>
              <a:t>ZK auth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749040" y="2788920"/>
            <a:ext cx="1463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6"/>
                </a:solidFill>
              </a:rPr>
              <a:t>Schnorr proof bound to nonce, RSU, service + Merkle membership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806440" y="1554480"/>
            <a:ext cx="548640" cy="548640"/>
          </a:xfrm>
          <a:prstGeom prst="ellipse">
            <a:avLst/>
          </a:prstGeom>
          <a:solidFill>
            <a:srgbClr val="1F9E8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8064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400800" y="1828800"/>
            <a:ext cx="1097280" cy="0"/>
          </a:xfrm>
          <a:prstGeom prst="line">
            <a:avLst/>
          </a:prstGeom>
          <a:noFill/>
          <a:ln w="25400">
            <a:solidFill>
              <a:srgbClr val="D5DCE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49240" y="2286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A36"/>
                </a:solidFill>
              </a:rPr>
              <a:t>Ticket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349240" y="2788920"/>
            <a:ext cx="1463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6"/>
                </a:solidFill>
              </a:rPr>
              <a:t>RSU signs a 30 s ticket, records it on the ledger, PREAUTHs neighbours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406640" y="1554480"/>
            <a:ext cx="548640" cy="548640"/>
          </a:xfrm>
          <a:prstGeom prst="ellipse">
            <a:avLst/>
          </a:prstGeom>
          <a:solidFill>
            <a:srgbClr val="1F9E8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4066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001000" y="1828800"/>
            <a:ext cx="1097280" cy="0"/>
          </a:xfrm>
          <a:prstGeom prst="line">
            <a:avLst/>
          </a:prstGeom>
          <a:noFill/>
          <a:ln w="25400">
            <a:solidFill>
              <a:srgbClr val="D5DCE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949440" y="2286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A36"/>
                </a:solidFill>
              </a:rPr>
              <a:t>Signed BSMs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949440" y="2788920"/>
            <a:ext cx="1463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6"/>
                </a:solidFill>
              </a:rPr>
              <a:t>10 Hz, pseudonym signature; full ticket once a second, 8-byte digest otherwise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9006840" y="1554480"/>
            <a:ext cx="548640" cy="548640"/>
          </a:xfrm>
          <a:prstGeom prst="ellipse">
            <a:avLst/>
          </a:prstGeom>
          <a:solidFill>
            <a:srgbClr val="1F9E8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0068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6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9601200" y="1828800"/>
            <a:ext cx="1097280" cy="0"/>
          </a:xfrm>
          <a:prstGeom prst="line">
            <a:avLst/>
          </a:prstGeom>
          <a:noFill/>
          <a:ln w="25400">
            <a:solidFill>
              <a:srgbClr val="D5DCE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549640" y="2286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A36"/>
                </a:solidFill>
              </a:rPr>
              <a:t>Handover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8549640" y="2788920"/>
            <a:ext cx="1463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6"/>
                </a:solidFill>
              </a:rPr>
              <a:t>Ticket + signature to the next RSU, accepted via ledger or PREAUTH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10607040" y="1554480"/>
            <a:ext cx="548640" cy="548640"/>
          </a:xfrm>
          <a:prstGeom prst="ellipse">
            <a:avLst/>
          </a:prstGeom>
          <a:solidFill>
            <a:srgbClr val="1F9E8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6070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7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10149840" y="2286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A36"/>
                </a:solidFill>
              </a:rPr>
              <a:t>New pseudonym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0" y="2788920"/>
            <a:ext cx="1463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6"/>
                </a:solidFill>
              </a:rPr>
              <a:t>Every 3 sessions, for unlinkability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48640" y="498348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77240" y="50749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36"/>
                </a:solidFill>
              </a:rPr>
              <a:t>The proof: </a:t>
            </a:r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R = r·G (precomputed), c = H(R ‖ Y ‖ rsu ‖ nonce ‖ time ‖ service ‖ pid ‖ class), s = r + c·x.  RSU checks s·G = R + c·Y. It learns only that the sender owns a registered key, and the proof cannot be replayed elsewhere.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lying BSM to a fully excluded vehicle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45920"/>
            <a:ext cx="457200" cy="45720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645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6"/>
                </a:solidFill>
              </a:rPr>
              <a:t>Detect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286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11 plausibility checks per BSM (range, position jump, speed vs path, acceleration, rate, replay, sybil…)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297680" y="141732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26280" y="1645920"/>
            <a:ext cx="457200" cy="45720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2628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1645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6"/>
                </a:solidFill>
              </a:rPr>
              <a:t>Report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286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K = 3 flagged BSMs out of the last 10 → RSU reports the pseudonym with an evidence hash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0" y="141732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5320" y="1645920"/>
            <a:ext cx="457200" cy="457200"/>
          </a:xfrm>
          <a:prstGeom prst="ellipse">
            <a:avLst/>
          </a:prstGeom>
          <a:solidFill>
            <a:srgbClr val="C8463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7532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869680" y="1645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6"/>
                </a:solidFill>
              </a:rPr>
              <a:t>Revoke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275320" y="2286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Ledger revokes when 2 different RSUs reported — one RSU cannot revoke anyone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379476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4023360"/>
            <a:ext cx="457200" cy="457200"/>
          </a:xfrm>
          <a:prstGeom prst="ellipse">
            <a:avLst/>
          </a:prstGeom>
          <a:solidFill>
            <a:srgbClr val="C846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40233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6"/>
                </a:solidFill>
              </a:rPr>
              <a:t>Trace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466344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RSU opens a trace request; RSU organisations approve it on the ledger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297680" y="379476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26280" y="4023360"/>
            <a:ext cx="457200" cy="457200"/>
          </a:xfrm>
          <a:prstGeom prst="ellipse">
            <a:avLst/>
          </a:prstGeom>
          <a:solidFill>
            <a:srgbClr val="1F2A3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26280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5120640" y="40233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6"/>
                </a:solidFill>
              </a:rPr>
              <a:t>Unmask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4526280" y="466344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t = 2f+1 RSUs release key shares only for an approved trace; TA decrypts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046720" y="379476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75320" y="4023360"/>
            <a:ext cx="457200" cy="457200"/>
          </a:xfrm>
          <a:prstGeom prst="ellipse">
            <a:avLst/>
          </a:prstGeom>
          <a:solidFill>
            <a:srgbClr val="1F2A3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75320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869680" y="40233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6"/>
                </a:solidFill>
              </a:rPr>
              <a:t>Exclude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8275320" y="466344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TA revokes all 5 pseudonyms of that vehicle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Headline results (60 vehicles, 6 attackers, 3 seeds)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2.0 ms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632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A"/>
                </a:solidFill>
              </a:rPr>
              <a:t>authentication latency (median, incl. ZKP)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364992" y="182880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1.6 ms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3364992" y="30632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A"/>
                </a:solidFill>
              </a:rPr>
              <a:t>handover latency (median)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181344" y="182880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99 %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6181344" y="30632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A"/>
                </a:solidFill>
              </a:rPr>
              <a:t>attackers reported (all 6 attack types)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997696" y="182880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9E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5400" dirty="0"/>
          </a:p>
        </p:txBody>
      </p:sp>
      <p:sp>
        <p:nvSpPr>
          <p:cNvPr id="10" name="Text 8"/>
          <p:cNvSpPr txBox="1"/>
          <p:nvPr/>
        </p:nvSpPr>
        <p:spPr>
          <a:xfrm>
            <a:off x="8997696" y="30632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A"/>
                </a:solidFill>
              </a:rPr>
              <a:t>honest vehicles revoked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4343400"/>
            <a:ext cx="11064240" cy="1463040"/>
          </a:xfrm>
          <a:prstGeom prst="roundRect">
            <a:avLst>
              <a:gd name="adj" fmla="val 5000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43484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A36"/>
                </a:solidFill>
              </a:rPr>
              <a:t>BSM delivery ratio 0.951, channel busy 4.1 % at RSUs, 145 security bytes per BSM. 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A36"/>
                </a:solidFill>
              </a:rPr>
              <a:t>First lying BSM → report: median 0.77 s; report → revocation visible: 3.8 s (mean over attacks).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2636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A"/>
                </a:solidFill>
              </a:rPr>
              <a:t>Lite 802.11p backend, mock ledger (500 ms commit), 120 s runs, mean of 3 seeds. Source: docs/results/.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Authentication stays at a few milliseconds as traffic grows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25880"/>
          <a:ext cx="694944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863840" y="1463040"/>
            <a:ext cx="37490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1F2A36"/>
                </a:solidFill>
              </a:rPr>
              <a:t>What is inside the number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6"/>
                </a:solidFill>
              </a:rPr>
              <a:t>Radio airtime, MAC queueing, and measured crypto: prove 0.04 ms, verify 0.08 ms, sign 0.08 ms.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6"/>
                </a:solidFill>
              </a:rPr>
              <a:t>No ledger wait: the ticket is issued before the commit lands.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6"/>
                </a:solidFill>
              </a:rPr>
              <a:t>Handovers succeed 99 % of the time; 31 % were accepted through backbone PREAUTH before the ledger record was visible.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Ticket digest halves the security overhead of every BSM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25880"/>
          <a:ext cx="54864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6309360" y="1325880"/>
          <a:ext cx="530352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2636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A"/>
                </a:solidFill>
              </a:rPr>
              <a:t>Same idea as the IEEE 1609.2 certificate digest. The digest is inside the signed payload and maps only to a ticket the RSU verified itself.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attack type is caught within about a second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25880"/>
          <a:ext cx="56692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6400800" y="1325880"/>
          <a:ext cx="52120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2636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A"/>
                </a:solidFill>
              </a:rPr>
              <a:t>const_pos is the hard case: a constant offset is only implausible once it crosses the radio range, and a car seen by one RSU only is reported but not revoked.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many RSUs must agree? Speed against trust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25880"/>
          <a:ext cx="54864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6309360" y="1325880"/>
          <a:ext cx="530352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2636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A"/>
                </a:solidFill>
              </a:rPr>
              <a:t>K = 1 revokes fastest but lets any single (possibly compromised) RSU revoke anyone. We keep K = 2: no single RSU can revoke.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Against the baselines: privacy and accountability for ~1 ms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25880"/>
          <a:ext cx="51206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371600"/>
          <a:ext cx="566928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914400"/>
                <a:gridCol w="1371600"/>
                <a:gridCol w="91440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Basic ECDSA PKI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bytes / BSM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Channel busy at RSUs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Issuer cannot link pseudonyms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9E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46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46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single party can unmask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9E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46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46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online authority per request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9E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9E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46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480060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Same roads, radio, attackers and detector for all three. ECDSA is ~0.7 ms faster and its BSMs are smaller; the central authority pays a 20 ms backbone round trip on every request. Detection and revocation numbers are equal by construction (same detector and ledger), so they are not a comparison point.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2636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A"/>
                </a:solidFill>
              </a:rPr>
              <a:t>Property rows are design properties, not measurements. Full IEEE 1609.2 SCMS also splits linkage across authorities, at the cost of more online infrastructure.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a real city: central Monaco from OpenStreetMap</a:t>
            </a:r>
            <a:endParaRPr lang="en-US" sz="3200" dirty="0"/>
          </a:p>
        </p:txBody>
      </p:sp>
      <p:pic>
        <p:nvPicPr>
          <p:cNvPr id="3" name="Image 0" descr="/home/user/vanet-demo/docs/figures/monaco_snapsh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4754880" cy="475488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325880"/>
          <a:ext cx="5943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645920"/>
                <a:gridCol w="16459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veh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 veh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 latency, median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1.96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2.41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ECDSA / central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1.29 / 22.2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1.40 / 22.3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Handover success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98.6 %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99.0 %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BSM delivery ratio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Attackers reported / revoked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/ 100 %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/ 100 %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669280" y="4069080"/>
            <a:ext cx="5943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A36"/>
                </a:solidFill>
              </a:rPr>
              <a:t>All 6 attack types (100 vehicles): 100 % reported, 100 % revoked, 0 honest vehicles revoked.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A36"/>
                </a:solidFill>
              </a:rPr>
              <a:t>New on the real map: hairpins and U-turns make the heading check flag a few honest cars; K-of-W reporting and the two-RSU rule stop every one of them before revocation.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2636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A"/>
                </a:solidFill>
              </a:rPr>
              <a:t>1.9 × 2.3 km, 437 junctions, 27 RSUs. OSM data © OpenStreetMap contributors via the MoST scenario (Codecá &amp; Härri, 2017).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fixed to get trustworthy numbers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3749040"/>
                <a:gridCol w="3749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Before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Experiments run the real protocol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stand-in stub protocol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ZKP protocol everywhere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to first report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counted from attack start: 14–31 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from first lying BSM: 0.2–1.1 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Pseudonym change vs. ghost check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 pseudonym change flagged as overlap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radio ignored; 0 honest flags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Leaving vehicles in lite radio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 toward parking spot, flagged 'range'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jump held; no false range flags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Ticket in every BSM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333 B per BSM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 B per BSM (digest)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Parallel experiment sweeps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runs failed at random (scenario build race)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scenarios built once, no failures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2636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A"/>
                </a:solidFill>
              </a:rPr>
              <a:t>All changes are covered by tests (89 passing). Details: docs/HOW_IT_WORKS.md, section 8.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and next steps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94960" cy="3566160"/>
          </a:xfrm>
          <a:prstGeom prst="roundRect">
            <a:avLst>
              <a:gd name="adj" fmla="val 2051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45920"/>
            <a:ext cx="384048" cy="384048"/>
          </a:xfrm>
          <a:prstGeom prst="ellipse">
            <a:avLst/>
          </a:prstGeom>
          <a:solidFill>
            <a:srgbClr val="C846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80160" y="1581912"/>
            <a:ext cx="4480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36"/>
                </a:solidFill>
              </a:rPr>
              <a:t>Limitations we state up front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94560"/>
            <a:ext cx="4937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Mock ledger commit time is a setting (500 ms); Fabric numbers come from the gateway benchmark.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Lite radio for these runs; final numbers with ns-3.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Detector tuned on generated data; VeReMi NextGen not yet run.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The RSU that sees a pseudonym change can link old and new pid.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417320"/>
            <a:ext cx="5394960" cy="3566160"/>
          </a:xfrm>
          <a:prstGeom prst="roundRect">
            <a:avLst>
              <a:gd name="adj" fmla="val 2051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46520" y="1645920"/>
            <a:ext cx="384048" cy="384048"/>
          </a:xfrm>
          <a:prstGeom prst="ellipse">
            <a:avLst/>
          </a:prstGeom>
          <a:solidFill>
            <a:srgbClr val="1F9E8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949440" y="1581912"/>
            <a:ext cx="4480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36"/>
                </a:solidFill>
              </a:rPr>
              <a:t>Next steps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2194560"/>
            <a:ext cx="4937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Run the same configs with --backend ns3 and --ledger on real Fabric.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Evaluate the detector on VeReMi NextGen test split.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RSSI / angle-of-arrival check for constant-offset attacks.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Compare against ECDSA certificates and a central authority (compare_schemes.json).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Anonymous to everyone, accountable to a quorum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2918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3DC"/>
                </a:solidFill>
              </a:rPr>
              <a:t>Millisecond authentication, 190-byte signed BSMs, every attack type reported, no honest vehicle revoked.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9377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2A900"/>
                </a:solidFill>
              </a:rPr>
              <a:t>Reproduce: python experiments/run.py --config experiments/configs/compare_bsm_ticket.json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VANET authentication: mechanism and results</dc:title>
  <dc:subject>PptxGenJS Presentation</dc:subject>
  <dc:creator>PptxGenJS</dc:creator>
  <cp:lastModifiedBy>PptxGenJS</cp:lastModifiedBy>
  <cp:revision>1</cp:revision>
  <dcterms:created xsi:type="dcterms:W3CDTF">2026-10-20T10:50:21Z</dcterms:created>
  <dcterms:modified xsi:type="dcterms:W3CDTF">2026-10-20T10:50:21Z</dcterms:modified>
</cp:coreProperties>
</file>